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7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65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BEE3B4-D24E-FDA3-F5A3-65FF8CF1AF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EBFA257-0B40-38DE-D921-EB2722E6FF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2BEF54-5F63-452D-80C4-51014825A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FF0CC-3570-4ECA-B82E-A087111D5163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416788-87B5-ED36-3B85-139188770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E1CA31-30BE-3112-CD63-4D30BA467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B3BFC-43CD-453C-A3FC-D858CBEB69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0186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1344BE-0528-9648-4B92-BDA4C3099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0AF9FC-7D7D-B3E2-6BA3-A46D57BB78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381820D-FF51-D311-FF14-8C32A74F9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FF0CC-3570-4ECA-B82E-A087111D5163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CEC79D6-2ECB-82F9-A8FC-E7981E677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0D213A-F16C-3B74-0E57-34B3FA4B8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B3BFC-43CD-453C-A3FC-D858CBEB69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36913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BCBCC8-BC92-AD8B-9FF8-A58A55D47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AF1BC6F-CF37-8A98-DB38-9DF1704737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2FF8F2-6B75-4F11-E236-7602FDF19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FF0CC-3570-4ECA-B82E-A087111D5163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09C52F-2668-CE49-220F-89ADD56A0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C65B9C-99E6-2E3E-1004-1FD78A0E7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B3BFC-43CD-453C-A3FC-D858CBEB69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7167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2DCB31-813E-A96F-A050-19F8A2A93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583B2CC-A7E4-2367-9ADF-733B76F1BA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60F3073-0706-7FCD-B293-0DB58FA47C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94401D5-562D-C1EA-496F-CEC56839C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FF0CC-3570-4ECA-B82E-A087111D5163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D67B2D8-9EC4-7CB0-EA06-ECDAF914D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E1A5CD2-33F6-975E-AF4C-1A19F7996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B3BFC-43CD-453C-A3FC-D858CBEB69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7427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732DF2-B429-C9B3-A050-05946D964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9174CD3-DABF-369D-1B2C-7F62DDEC9E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82A511D-894F-5E87-7321-7518AB48FD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47A487D-B729-78E6-BED8-9A795F9A8A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B84D3A8-A239-F2D5-6548-D57E1DCB7B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DD7DA3A-0D70-E1D9-185C-4ED813885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FF0CC-3570-4ECA-B82E-A087111D5163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6A7EF32-04E5-C43F-BC3E-CB9D9382B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7EDF3F6-DFF0-A96D-83A6-420D8C626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B3BFC-43CD-453C-A3FC-D858CBEB69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095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B028AA-5602-2593-6998-2C946425B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97BF74C-46CD-21D3-B48D-6809AB778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FF0CC-3570-4ECA-B82E-A087111D5163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36D1827-39FC-C379-0278-1114D1C14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FE4FDBD-3B0B-8FD0-DE6C-D982EA589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B3BFC-43CD-453C-A3FC-D858CBEB69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8387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9CC0E41-8A40-76C0-863E-F5BBE85E5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FF0CC-3570-4ECA-B82E-A087111D5163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6229A6D-5522-5E24-4FC1-2869648D1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2703212-DC6D-9761-CA0E-39B19EF67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B3BFC-43CD-453C-A3FC-D858CBEB69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3725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171526-C1EE-6D18-F891-926513211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F049FA-2461-E302-FFC6-4B99BEDA34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E69D15E-466E-3C75-C4B7-A5F8541CB1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1C33585-67A5-1E45-A638-D260E221B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FF0CC-3570-4ECA-B82E-A087111D5163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66A5889-2727-B260-0A89-288B31D5B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D44D849-722B-3D5C-FE56-3FA20AED5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B3BFC-43CD-453C-A3FC-D858CBEB69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9905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8D9C1C-8138-5705-4A52-90E8ED02A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5DDCAA9-C44C-4F3C-8A9A-630F858972C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662AA65-D839-E4AC-E1B7-CD0A6C7E95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1AEDF37-9400-75C0-B2FD-D4BB0FC88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FF0CC-3570-4ECA-B82E-A087111D5163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1FD3EB-D5E3-7759-BC5C-7EDE7A257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B15F5BA-4E61-2972-FF2C-B7E3582C7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B3BFC-43CD-453C-A3FC-D858CBEB69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4024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B9D249-2874-5B31-3DAC-4A62FC4ED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0236CF6-E455-22DC-E9CE-FAEF62B26D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8C3510-7FC9-50E6-30CB-3F99B5D50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FF0CC-3570-4ECA-B82E-A087111D5163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D9982E-7BEE-DCEF-D168-C9B3EA58E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867F08-687C-B5DE-829D-25060AF49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B3BFC-43CD-453C-A3FC-D858CBEB69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1109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3A67FF-3F43-D9BB-A709-8960C0EC92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E06A01C-4722-2B46-567E-DB8032BA4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DE6E024-ABB5-8768-5B3B-6CF36C9E1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FF0CC-3570-4ECA-B82E-A087111D5163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615E1F-1EA9-8C8E-12E9-FAD764AC8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7F2AEF-0EFE-6119-D2C2-5DB6FA18C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B3BFC-43CD-453C-A3FC-D858CBEB69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6497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36BB60B-547F-0EF8-D98B-8C962A7A8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1D7EE84-0C04-9ABF-2F77-520141A6E4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95B538-4635-F7AB-4E50-A793776751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4FF0CC-3570-4ECA-B82E-A087111D5163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003AD8-B5C2-57DF-E48D-B0E7320C03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43D236-8E27-FB3D-DCC5-D8EA7C2A91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CB3BFC-43CD-453C-A3FC-D858CBEB69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1310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8.png"/><Relationship Id="rId9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2E52F14A-4640-CB70-5234-B3621F1BD1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449" y="304125"/>
            <a:ext cx="8080489" cy="190233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CEC50F3-4E8D-4634-8A21-E6A27951DC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15228"/>
            <a:ext cx="8369938" cy="98002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C96C4267-F77F-F663-8E87-6DD9DD86000A}"/>
              </a:ext>
            </a:extLst>
          </p:cNvPr>
          <p:cNvSpPr txBox="1"/>
          <p:nvPr/>
        </p:nvSpPr>
        <p:spPr>
          <a:xfrm>
            <a:off x="9058480" y="2392062"/>
            <a:ext cx="23156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符号动力学结果计算一致</a:t>
            </a:r>
          </a:p>
        </p:txBody>
      </p:sp>
    </p:spTree>
    <p:extLst>
      <p:ext uri="{BB962C8B-B14F-4D97-AF65-F5344CB8AC3E}">
        <p14:creationId xmlns:p14="http://schemas.microsoft.com/office/powerpoint/2010/main" val="1029836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8531E736-A113-0755-7066-FC1A49F4BE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451" y="283557"/>
            <a:ext cx="3651022" cy="912756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EF5EB424-8C78-8DC5-2028-FE4EB24391F1}"/>
              </a:ext>
            </a:extLst>
          </p:cNvPr>
          <p:cNvSpPr txBox="1"/>
          <p:nvPr/>
        </p:nvSpPr>
        <p:spPr>
          <a:xfrm>
            <a:off x="289451" y="1355154"/>
            <a:ext cx="32892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随机输入数据代入，可以得到三个参数单项式</a:t>
            </a:r>
            <a:r>
              <a:rPr lang="en-US" altLang="zh-CN" dirty="0"/>
              <a:t>h1</a:t>
            </a:r>
            <a:r>
              <a:rPr lang="zh-CN" altLang="en-US" dirty="0"/>
              <a:t>和</a:t>
            </a:r>
            <a:r>
              <a:rPr lang="en-US" altLang="zh-CN" dirty="0"/>
              <a:t>h2</a:t>
            </a:r>
            <a:r>
              <a:rPr lang="zh-CN" altLang="en-US" dirty="0"/>
              <a:t>和</a:t>
            </a:r>
            <a:r>
              <a:rPr lang="en-US" altLang="zh-CN" dirty="0"/>
              <a:t>h3</a:t>
            </a:r>
            <a:r>
              <a:rPr lang="zh-CN" altLang="en-US" dirty="0"/>
              <a:t>，但是不知道几个是独立的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C8ACD28-C15E-1071-B633-DC0C76AB22D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025"/>
          <a:stretch>
            <a:fillRect/>
          </a:stretch>
        </p:blipFill>
        <p:spPr>
          <a:xfrm>
            <a:off x="342076" y="2437325"/>
            <a:ext cx="3348415" cy="92442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D18E9FA4-63AD-65FB-E338-D38B0F376860}"/>
              </a:ext>
            </a:extLst>
          </p:cNvPr>
          <p:cNvSpPr txBox="1"/>
          <p:nvPr/>
        </p:nvSpPr>
        <p:spPr>
          <a:xfrm>
            <a:off x="289450" y="3361753"/>
            <a:ext cx="33484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但是</a:t>
            </a:r>
            <a:r>
              <a:rPr lang="en-US" altLang="zh-CN" dirty="0"/>
              <a:t>w3=w1+w2</a:t>
            </a:r>
          </a:p>
          <a:p>
            <a:r>
              <a:rPr lang="zh-CN" altLang="en-US" dirty="0"/>
              <a:t>因此矩阵最多两列独立的</a:t>
            </a:r>
            <a:endParaRPr lang="en-US" altLang="zh-CN" dirty="0"/>
          </a:p>
          <a:p>
            <a:r>
              <a:rPr lang="zh-CN" altLang="en-US" dirty="0"/>
              <a:t>通过</a:t>
            </a:r>
            <a:r>
              <a:rPr lang="en-US" altLang="zh-CN" dirty="0">
                <a:solidFill>
                  <a:srgbClr val="FF0000"/>
                </a:solidFill>
              </a:rPr>
              <a:t>SVD</a:t>
            </a:r>
            <a:r>
              <a:rPr lang="zh-CN" altLang="en-US" dirty="0"/>
              <a:t>可以得到矩阵具体的线性独立方向有几个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A15E8ED-AEB4-0957-313E-8A13E4952ADA}"/>
              </a:ext>
            </a:extLst>
          </p:cNvPr>
          <p:cNvSpPr txBox="1"/>
          <p:nvPr/>
        </p:nvSpPr>
        <p:spPr>
          <a:xfrm>
            <a:off x="292733" y="5502846"/>
            <a:ext cx="34470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第一次列主元</a:t>
            </a:r>
            <a:r>
              <a:rPr lang="en-US" altLang="zh-CN" dirty="0"/>
              <a:t>QR</a:t>
            </a:r>
            <a:r>
              <a:rPr lang="zh-CN" altLang="en-US" dirty="0"/>
              <a:t>分解，</a:t>
            </a:r>
            <a:r>
              <a:rPr lang="en-US" altLang="zh-CN" dirty="0"/>
              <a:t>MATLAB</a:t>
            </a:r>
            <a:r>
              <a:rPr lang="zh-CN" altLang="en-US" dirty="0"/>
              <a:t>会输出线性独立的列排序，例如</a:t>
            </a:r>
            <a:r>
              <a:rPr lang="zh-CN" altLang="zh-CN" dirty="0"/>
              <a:t>[Q, R, p] = qr(W, 'vector‘);</a:t>
            </a:r>
          </a:p>
          <a:p>
            <a:r>
              <a:rPr lang="zh-CN" altLang="en-US" dirty="0"/>
              <a:t>会输出一个</a:t>
            </a:r>
            <a:r>
              <a:rPr lang="zh-CN" altLang="zh-CN" dirty="0"/>
              <a:t>p = [</a:t>
            </a:r>
            <a:r>
              <a:rPr lang="en-US" altLang="zh-CN" dirty="0"/>
              <a:t>1 3 2]</a:t>
            </a:r>
            <a:endParaRPr lang="zh-CN" altLang="zh-CN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46AFC93-7CF4-65FF-BA6B-BC9ED40E5C4F}"/>
              </a:ext>
            </a:extLst>
          </p:cNvPr>
          <p:cNvSpPr txBox="1"/>
          <p:nvPr/>
        </p:nvSpPr>
        <p:spPr>
          <a:xfrm>
            <a:off x="289450" y="4679645"/>
            <a:ext cx="33484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通过对矩阵进行归一化，然后</a:t>
            </a:r>
            <a:r>
              <a:rPr lang="en-US" altLang="zh-CN" dirty="0"/>
              <a:t>SVD</a:t>
            </a:r>
            <a:r>
              <a:rPr lang="zh-CN" altLang="en-US" dirty="0"/>
              <a:t>，得到</a:t>
            </a:r>
            <a:r>
              <a:rPr lang="en-US" altLang="zh-CN" dirty="0" err="1">
                <a:solidFill>
                  <a:srgbClr val="FF0000"/>
                </a:solidFill>
              </a:rPr>
              <a:t>n_SVD</a:t>
            </a:r>
            <a:r>
              <a:rPr lang="en-US" altLang="zh-CN" dirty="0">
                <a:solidFill>
                  <a:srgbClr val="FF0000"/>
                </a:solidFill>
              </a:rPr>
              <a:t>=2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0D70A63-E11A-00E1-0A57-D534F476417B}"/>
              </a:ext>
            </a:extLst>
          </p:cNvPr>
          <p:cNvSpPr txBox="1"/>
          <p:nvPr/>
        </p:nvSpPr>
        <p:spPr>
          <a:xfrm>
            <a:off x="4371360" y="154825"/>
            <a:ext cx="34470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然后再结合</a:t>
            </a:r>
            <a:r>
              <a:rPr lang="en-US" altLang="zh-CN" dirty="0"/>
              <a:t>SVD</a:t>
            </a:r>
            <a:r>
              <a:rPr lang="zh-CN" altLang="en-US" dirty="0"/>
              <a:t>的</a:t>
            </a:r>
            <a:r>
              <a:rPr lang="en-US" altLang="zh-CN" dirty="0"/>
              <a:t>n</a:t>
            </a:r>
            <a:r>
              <a:rPr lang="zh-CN" altLang="en-US" dirty="0"/>
              <a:t>，就可以选择前两列的</a:t>
            </a:r>
            <a:r>
              <a:rPr lang="en-US" altLang="zh-CN" dirty="0"/>
              <a:t>p</a:t>
            </a:r>
            <a:r>
              <a:rPr lang="zh-CN" altLang="en-US" dirty="0"/>
              <a:t>，即原始</a:t>
            </a:r>
            <a:r>
              <a:rPr lang="en-US" altLang="zh-CN" dirty="0"/>
              <a:t>W</a:t>
            </a:r>
            <a:r>
              <a:rPr lang="zh-CN" altLang="en-US" dirty="0"/>
              <a:t>矩阵的第一列和第三列</a:t>
            </a:r>
            <a:endParaRPr lang="zh-CN" altLang="zh-CN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2D56B0D-86A2-8A36-3BA3-1B8A07F0572E}"/>
              </a:ext>
            </a:extLst>
          </p:cNvPr>
          <p:cNvSpPr txBox="1"/>
          <p:nvPr/>
        </p:nvSpPr>
        <p:spPr>
          <a:xfrm>
            <a:off x="4371360" y="1166942"/>
            <a:ext cx="344709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因此第一次</a:t>
            </a:r>
            <a:r>
              <a:rPr lang="en-US" altLang="zh-CN" dirty="0"/>
              <a:t>QR</a:t>
            </a:r>
            <a:r>
              <a:rPr lang="zh-CN" altLang="en-US" dirty="0"/>
              <a:t>分解的目的是</a:t>
            </a:r>
            <a:r>
              <a:rPr lang="zh-CN" altLang="en-US" dirty="0">
                <a:solidFill>
                  <a:srgbClr val="FF0000"/>
                </a:solidFill>
              </a:rPr>
              <a:t>选择出线性独立的列</a:t>
            </a:r>
            <a:r>
              <a:rPr lang="zh-CN" altLang="en-US" dirty="0"/>
              <a:t>（通过这种方式，避免了假如</a:t>
            </a:r>
            <a:r>
              <a:rPr lang="en-US" altLang="zh-CN" dirty="0"/>
              <a:t>10</a:t>
            </a:r>
            <a:r>
              <a:rPr lang="zh-CN" altLang="en-US" dirty="0"/>
              <a:t>列选择前</a:t>
            </a:r>
            <a:r>
              <a:rPr lang="en-US" altLang="zh-CN" dirty="0"/>
              <a:t>5</a:t>
            </a:r>
            <a:r>
              <a:rPr lang="zh-CN" altLang="en-US" dirty="0"/>
              <a:t>列，第</a:t>
            </a:r>
            <a:r>
              <a:rPr lang="en-US" altLang="zh-CN" dirty="0"/>
              <a:t>6</a:t>
            </a:r>
            <a:r>
              <a:rPr lang="zh-CN" altLang="en-US" dirty="0"/>
              <a:t>列却可以用</a:t>
            </a:r>
            <a:r>
              <a:rPr lang="en-US" altLang="zh-CN" dirty="0"/>
              <a:t>7</a:t>
            </a:r>
            <a:r>
              <a:rPr lang="zh-CN" altLang="en-US" dirty="0"/>
              <a:t>列和</a:t>
            </a:r>
            <a:r>
              <a:rPr lang="en-US" altLang="zh-CN" dirty="0"/>
              <a:t>8</a:t>
            </a:r>
            <a:r>
              <a:rPr lang="zh-CN" altLang="en-US" dirty="0"/>
              <a:t>列相加组合得到的情况）</a:t>
            </a:r>
            <a:endParaRPr lang="zh-CN" altLang="zh-CN" dirty="0"/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E0FFF860-50BF-4F7F-E0BB-80CC65EEBC74}"/>
              </a:ext>
            </a:extLst>
          </p:cNvPr>
          <p:cNvCxnSpPr/>
          <p:nvPr/>
        </p:nvCxnSpPr>
        <p:spPr>
          <a:xfrm>
            <a:off x="4111511" y="0"/>
            <a:ext cx="0" cy="685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A372F437-EFC4-DF1F-03FC-DD56C5FBDECA}"/>
              </a:ext>
            </a:extLst>
          </p:cNvPr>
          <p:cNvSpPr txBox="1"/>
          <p:nvPr/>
        </p:nvSpPr>
        <p:spPr>
          <a:xfrm>
            <a:off x="4383425" y="2733057"/>
            <a:ext cx="34470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这里假设</a:t>
            </a:r>
            <a:r>
              <a:rPr lang="en-US" altLang="zh-CN" dirty="0"/>
              <a:t>p=[1 2 3]</a:t>
            </a:r>
            <a:r>
              <a:rPr lang="zh-CN" altLang="en-US" dirty="0"/>
              <a:t>，最新输出的</a:t>
            </a:r>
            <a:r>
              <a:rPr lang="en-US" altLang="zh-CN" dirty="0"/>
              <a:t>WB</a:t>
            </a:r>
            <a:r>
              <a:rPr lang="zh-CN" altLang="en-US" dirty="0"/>
              <a:t>为</a:t>
            </a:r>
            <a:endParaRPr lang="zh-CN" altLang="zh-CN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C2173A32-94BD-D6DD-CF26-AFD75D18FD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9315" y="3361753"/>
            <a:ext cx="1162720" cy="1043467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713A8114-6602-B82C-5D18-74F164127B91}"/>
              </a:ext>
            </a:extLst>
          </p:cNvPr>
          <p:cNvSpPr txBox="1"/>
          <p:nvPr/>
        </p:nvSpPr>
        <p:spPr>
          <a:xfrm>
            <a:off x="4234314" y="4363418"/>
            <a:ext cx="34470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因为</a:t>
            </a:r>
            <a:r>
              <a:rPr lang="en-US" altLang="zh-CN" dirty="0"/>
              <a:t>WB</a:t>
            </a:r>
            <a:r>
              <a:rPr lang="zh-CN" altLang="en-US" dirty="0"/>
              <a:t>能表示</a:t>
            </a:r>
            <a:r>
              <a:rPr lang="en-US" altLang="zh-CN" dirty="0"/>
              <a:t>W</a:t>
            </a:r>
            <a:r>
              <a:rPr lang="zh-CN" altLang="en-US" dirty="0"/>
              <a:t>的所有列，因此一定存在一个矩阵</a:t>
            </a:r>
            <a:r>
              <a:rPr lang="en-US" altLang="zh-CN" dirty="0"/>
              <a:t>P</a:t>
            </a:r>
            <a:r>
              <a:rPr lang="zh-CN" altLang="en-US" dirty="0"/>
              <a:t>，目前我们需要求一个矩阵</a:t>
            </a:r>
            <a:r>
              <a:rPr lang="en-US" altLang="zh-CN" dirty="0"/>
              <a:t>P</a:t>
            </a:r>
            <a:r>
              <a:rPr lang="zh-CN" altLang="en-US" dirty="0"/>
              <a:t>满足</a:t>
            </a:r>
            <a:endParaRPr lang="zh-CN" altLang="zh-CN" dirty="0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20657FC1-4663-EAC9-659E-9FED9A0DC8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039" y="5323941"/>
            <a:ext cx="1127645" cy="357810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DBE85507-55F8-0400-24D9-0642FBC8BCB5}"/>
              </a:ext>
            </a:extLst>
          </p:cNvPr>
          <p:cNvSpPr txBox="1"/>
          <p:nvPr/>
        </p:nvSpPr>
        <p:spPr>
          <a:xfrm>
            <a:off x="8183550" y="1678319"/>
            <a:ext cx="39404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需要先对矩阵</a:t>
            </a:r>
            <a:r>
              <a:rPr lang="en-US" altLang="zh-CN" dirty="0"/>
              <a:t>WB</a:t>
            </a:r>
            <a:r>
              <a:rPr lang="zh-CN" altLang="en-US" dirty="0"/>
              <a:t>进行转置，因为矩阵</a:t>
            </a:r>
            <a:r>
              <a:rPr lang="en-US" altLang="zh-CN" dirty="0"/>
              <a:t>W</a:t>
            </a:r>
            <a:r>
              <a:rPr lang="zh-CN" altLang="en-US" dirty="0"/>
              <a:t>转置之后，</a:t>
            </a:r>
            <a:r>
              <a:rPr lang="en-US" altLang="zh-CN" dirty="0"/>
              <a:t>SVD</a:t>
            </a:r>
            <a:r>
              <a:rPr lang="zh-CN" altLang="en-US" dirty="0"/>
              <a:t>得到的非零奇异值的个数不变，因此进行</a:t>
            </a:r>
            <a:r>
              <a:rPr lang="zh-CN" altLang="en-US" dirty="0">
                <a:solidFill>
                  <a:srgbClr val="FF0000"/>
                </a:solidFill>
              </a:rPr>
              <a:t>第二次列主元</a:t>
            </a:r>
            <a:r>
              <a:rPr lang="en-US" altLang="zh-CN" dirty="0">
                <a:solidFill>
                  <a:srgbClr val="FF0000"/>
                </a:solidFill>
              </a:rPr>
              <a:t>QR</a:t>
            </a:r>
            <a:r>
              <a:rPr lang="zh-CN" altLang="en-US" dirty="0">
                <a:solidFill>
                  <a:srgbClr val="FF0000"/>
                </a:solidFill>
              </a:rPr>
              <a:t>分解</a:t>
            </a:r>
            <a:endParaRPr lang="zh-CN" altLang="zh-CN" dirty="0">
              <a:solidFill>
                <a:srgbClr val="FF0000"/>
              </a:solidFill>
            </a:endParaRP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028279FD-BDE4-A2E6-D311-5A5931393910}"/>
              </a:ext>
            </a:extLst>
          </p:cNvPr>
          <p:cNvCxnSpPr/>
          <p:nvPr/>
        </p:nvCxnSpPr>
        <p:spPr>
          <a:xfrm>
            <a:off x="7926994" y="-1168"/>
            <a:ext cx="0" cy="685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C8ED52CC-C357-ECDF-0AD8-8A346411F340}"/>
              </a:ext>
            </a:extLst>
          </p:cNvPr>
          <p:cNvSpPr txBox="1"/>
          <p:nvPr/>
        </p:nvSpPr>
        <p:spPr>
          <a:xfrm>
            <a:off x="4234313" y="6393543"/>
            <a:ext cx="3015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矩阵</a:t>
            </a:r>
            <a:r>
              <a:rPr lang="en-US" altLang="zh-CN" dirty="0"/>
              <a:t>P</a:t>
            </a:r>
            <a:r>
              <a:rPr lang="zh-CN" altLang="en-US" dirty="0"/>
              <a:t>就是</a:t>
            </a:r>
            <a:r>
              <a:rPr lang="zh-CN" altLang="en-US" dirty="0">
                <a:solidFill>
                  <a:srgbClr val="FF0000"/>
                </a:solidFill>
              </a:rPr>
              <a:t>参数映射矩阵</a:t>
            </a:r>
            <a:endParaRPr lang="zh-CN" altLang="zh-CN" dirty="0">
              <a:solidFill>
                <a:srgbClr val="FF0000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053DACD-4474-E760-BED7-B9A2B24F66A9}"/>
              </a:ext>
            </a:extLst>
          </p:cNvPr>
          <p:cNvSpPr txBox="1"/>
          <p:nvPr/>
        </p:nvSpPr>
        <p:spPr>
          <a:xfrm>
            <a:off x="4234314" y="5691058"/>
            <a:ext cx="34470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因为</a:t>
            </a:r>
            <a:r>
              <a:rPr lang="en-US" altLang="zh-CN" dirty="0"/>
              <a:t>WB</a:t>
            </a:r>
            <a:r>
              <a:rPr lang="zh-CN" altLang="en-US" dirty="0"/>
              <a:t>矩阵不是方阵，不能直接求逆计算</a:t>
            </a:r>
            <a:r>
              <a:rPr lang="en-US" altLang="zh-CN" dirty="0"/>
              <a:t>P</a:t>
            </a:r>
            <a:r>
              <a:rPr lang="zh-CN" altLang="en-US" dirty="0"/>
              <a:t>矩阵的值</a:t>
            </a:r>
            <a:endParaRPr lang="zh-CN" altLang="zh-CN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6E599C1-CE94-17D4-2CF3-619ED7A91576}"/>
              </a:ext>
            </a:extLst>
          </p:cNvPr>
          <p:cNvSpPr txBox="1"/>
          <p:nvPr/>
        </p:nvSpPr>
        <p:spPr>
          <a:xfrm>
            <a:off x="8177417" y="3429000"/>
            <a:ext cx="39404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假设对</a:t>
            </a:r>
            <a:r>
              <a:rPr lang="en-US" altLang="zh-CN" dirty="0"/>
              <a:t>WB</a:t>
            </a:r>
            <a:r>
              <a:rPr lang="zh-CN" altLang="en-US" dirty="0"/>
              <a:t>的转置第二次列主元</a:t>
            </a:r>
            <a:r>
              <a:rPr lang="en-US" altLang="zh-CN" dirty="0"/>
              <a:t>QR</a:t>
            </a:r>
            <a:r>
              <a:rPr lang="zh-CN" altLang="en-US" dirty="0"/>
              <a:t>分解得到</a:t>
            </a:r>
            <a:r>
              <a:rPr lang="en-US" altLang="zh-CN" dirty="0"/>
              <a:t>p=[1 2 4 3]</a:t>
            </a:r>
            <a:r>
              <a:rPr lang="zh-CN" altLang="en-US" dirty="0"/>
              <a:t>，这里选择第一列和第二列，组成最新的矩阵</a:t>
            </a:r>
            <a:endParaRPr lang="zh-CN" altLang="zh-CN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6864EDBF-684D-D48B-74A6-BC746B809947}"/>
              </a:ext>
            </a:extLst>
          </p:cNvPr>
          <p:cNvSpPr txBox="1"/>
          <p:nvPr/>
        </p:nvSpPr>
        <p:spPr>
          <a:xfrm>
            <a:off x="8183551" y="100089"/>
            <a:ext cx="39404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因此后续的任务主要集中在：从一个不能直接求逆的矩阵，</a:t>
            </a:r>
            <a:r>
              <a:rPr lang="zh-CN" altLang="en-US" dirty="0">
                <a:solidFill>
                  <a:srgbClr val="FF0000"/>
                </a:solidFill>
              </a:rPr>
              <a:t>提取出来一个可逆的方阵</a:t>
            </a:r>
            <a:r>
              <a:rPr lang="zh-CN" altLang="en-US" dirty="0"/>
              <a:t>，求解</a:t>
            </a:r>
            <a:r>
              <a:rPr lang="en-US" altLang="zh-CN" dirty="0"/>
              <a:t>P</a:t>
            </a:r>
            <a:r>
              <a:rPr lang="zh-CN" altLang="en-US" dirty="0"/>
              <a:t>矩阵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B1328D9-1FF8-285B-013D-C8B856EE94C9}"/>
              </a:ext>
            </a:extLst>
          </p:cNvPr>
          <p:cNvSpPr txBox="1"/>
          <p:nvPr/>
        </p:nvSpPr>
        <p:spPr>
          <a:xfrm>
            <a:off x="8183551" y="1023419"/>
            <a:ext cx="39404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因为</a:t>
            </a:r>
            <a:r>
              <a:rPr lang="en-US" altLang="zh-CN" dirty="0"/>
              <a:t>WB</a:t>
            </a:r>
            <a:r>
              <a:rPr lang="zh-CN" altLang="en-US" dirty="0"/>
              <a:t>的秩一定为</a:t>
            </a:r>
            <a:r>
              <a:rPr lang="en-US" altLang="zh-CN" dirty="0"/>
              <a:t>2</a:t>
            </a:r>
            <a:r>
              <a:rPr lang="zh-CN" altLang="en-US" dirty="0"/>
              <a:t>，即存在两个线性独立</a:t>
            </a: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EE493ADB-3A3D-4770-3457-2486D30BFD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62530" y="2778317"/>
            <a:ext cx="1754015" cy="650683"/>
          </a:xfrm>
          <a:prstGeom prst="rect">
            <a:avLst/>
          </a:prstGeom>
        </p:spPr>
      </p:pic>
      <p:sp>
        <p:nvSpPr>
          <p:cNvPr id="32" name="文本框 31">
            <a:extLst>
              <a:ext uri="{FF2B5EF4-FFF2-40B4-BE49-F238E27FC236}">
                <a16:creationId xmlns:a16="http://schemas.microsoft.com/office/drawing/2014/main" id="{DE3D6ABF-E56B-E402-675B-91777C772A82}"/>
              </a:ext>
            </a:extLst>
          </p:cNvPr>
          <p:cNvSpPr txBox="1"/>
          <p:nvPr/>
        </p:nvSpPr>
        <p:spPr>
          <a:xfrm>
            <a:off x="8177417" y="4363418"/>
            <a:ext cx="39404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因为矩阵</a:t>
            </a:r>
            <a:endParaRPr lang="zh-CN" altLang="zh-CN" dirty="0"/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A0D24BA3-777D-35B0-0F7A-EB61D84FED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62530" y="4321835"/>
            <a:ext cx="1127645" cy="357810"/>
          </a:xfrm>
          <a:prstGeom prst="rect">
            <a:avLst/>
          </a:prstGeom>
        </p:spPr>
      </p:pic>
      <p:sp>
        <p:nvSpPr>
          <p:cNvPr id="34" name="文本框 33">
            <a:extLst>
              <a:ext uri="{FF2B5EF4-FFF2-40B4-BE49-F238E27FC236}">
                <a16:creationId xmlns:a16="http://schemas.microsoft.com/office/drawing/2014/main" id="{02C97B6F-7C03-5EEB-F2C0-C6F1BD2EDBB1}"/>
              </a:ext>
            </a:extLst>
          </p:cNvPr>
          <p:cNvSpPr txBox="1"/>
          <p:nvPr/>
        </p:nvSpPr>
        <p:spPr>
          <a:xfrm>
            <a:off x="8177417" y="4745765"/>
            <a:ext cx="39404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一定满足：如果选择</a:t>
            </a:r>
            <a:r>
              <a:rPr lang="en-US" altLang="zh-CN" dirty="0"/>
              <a:t>W</a:t>
            </a:r>
            <a:r>
              <a:rPr lang="zh-CN" altLang="en-US" dirty="0"/>
              <a:t>的第一行第三行，</a:t>
            </a:r>
            <a:r>
              <a:rPr lang="en-US" altLang="zh-CN" dirty="0"/>
              <a:t>WB</a:t>
            </a:r>
            <a:r>
              <a:rPr lang="zh-CN" altLang="en-US" dirty="0"/>
              <a:t>的第一行和第三行，构成新的公式：</a:t>
            </a:r>
            <a:r>
              <a:rPr lang="en-US" altLang="zh-CN" dirty="0"/>
              <a:t>\</a:t>
            </a:r>
          </a:p>
          <a:p>
            <a:r>
              <a:rPr lang="zh-CN" altLang="en-US" dirty="0"/>
              <a:t>两个</a:t>
            </a:r>
            <a:r>
              <a:rPr lang="en-US" altLang="zh-CN" dirty="0"/>
              <a:t>P</a:t>
            </a:r>
            <a:r>
              <a:rPr lang="zh-CN" altLang="en-US" dirty="0"/>
              <a:t>一定相等</a:t>
            </a:r>
            <a:endParaRPr lang="en-US" altLang="zh-CN" dirty="0"/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2BC61593-65EF-DDC0-0B92-902041D973E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33077" y="5359335"/>
            <a:ext cx="1004574" cy="287021"/>
          </a:xfrm>
          <a:prstGeom prst="rect">
            <a:avLst/>
          </a:prstGeom>
        </p:spPr>
      </p:pic>
      <p:sp>
        <p:nvSpPr>
          <p:cNvPr id="36" name="文本框 35">
            <a:extLst>
              <a:ext uri="{FF2B5EF4-FFF2-40B4-BE49-F238E27FC236}">
                <a16:creationId xmlns:a16="http://schemas.microsoft.com/office/drawing/2014/main" id="{2A8C9D32-A99D-D695-8621-D372CB6B1643}"/>
              </a:ext>
            </a:extLst>
          </p:cNvPr>
          <p:cNvSpPr txBox="1"/>
          <p:nvPr/>
        </p:nvSpPr>
        <p:spPr>
          <a:xfrm>
            <a:off x="8177417" y="5946094"/>
            <a:ext cx="39404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因此，肯定能从</a:t>
            </a:r>
            <a:r>
              <a:rPr lang="en-US" altLang="zh-CN" dirty="0"/>
              <a:t>WB</a:t>
            </a:r>
            <a:r>
              <a:rPr lang="zh-CN" altLang="en-US" dirty="0"/>
              <a:t>选出第一行和第二行，构造出一个方阵</a:t>
            </a:r>
            <a:r>
              <a:rPr lang="en-US" altLang="zh-CN" dirty="0"/>
              <a:t>AB</a:t>
            </a:r>
            <a:r>
              <a:rPr lang="zh-CN" altLang="en-US" dirty="0"/>
              <a:t>（第一行和第二行的选择原则来自第二次</a:t>
            </a:r>
            <a:r>
              <a:rPr lang="en-US" altLang="zh-CN" dirty="0"/>
              <a:t>QR</a:t>
            </a:r>
            <a:r>
              <a:rPr lang="zh-CN" altLang="en-US" dirty="0"/>
              <a:t>）</a:t>
            </a:r>
            <a:endParaRPr lang="en-US" altLang="zh-CN" dirty="0"/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FD2B156C-D3FC-508E-B5CB-21FA25C0D1E4}"/>
              </a:ext>
            </a:extLst>
          </p:cNvPr>
          <p:cNvCxnSpPr>
            <a:cxnSpLocks/>
          </p:cNvCxnSpPr>
          <p:nvPr/>
        </p:nvCxnSpPr>
        <p:spPr>
          <a:xfrm>
            <a:off x="7926994" y="4352330"/>
            <a:ext cx="426500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7088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5B67B169-04E6-C152-69B2-F257F1CD60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291" y="168504"/>
            <a:ext cx="1174453" cy="533842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5B86C843-7E46-66E9-7B01-5E63331BEDEC}"/>
              </a:ext>
            </a:extLst>
          </p:cNvPr>
          <p:cNvSpPr txBox="1"/>
          <p:nvPr/>
        </p:nvSpPr>
        <p:spPr>
          <a:xfrm>
            <a:off x="0" y="762324"/>
            <a:ext cx="38812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因为矩阵</a:t>
            </a:r>
            <a:r>
              <a:rPr lang="en-US" altLang="zh-CN" dirty="0"/>
              <a:t>AB</a:t>
            </a:r>
            <a:r>
              <a:rPr lang="zh-CN" altLang="en-US" dirty="0"/>
              <a:t>是选择了</a:t>
            </a:r>
            <a:r>
              <a:rPr lang="en-US" altLang="zh-CN" dirty="0"/>
              <a:t>WB</a:t>
            </a:r>
            <a:r>
              <a:rPr lang="zh-CN" altLang="en-US" dirty="0"/>
              <a:t>的前两行，因此矩阵</a:t>
            </a:r>
            <a:r>
              <a:rPr lang="en-US" altLang="zh-CN" dirty="0"/>
              <a:t>A</a:t>
            </a:r>
            <a:r>
              <a:rPr lang="zh-CN" altLang="en-US" dirty="0"/>
              <a:t>就要选取</a:t>
            </a:r>
            <a:r>
              <a:rPr lang="en-US" altLang="zh-CN" dirty="0"/>
              <a:t>W</a:t>
            </a:r>
            <a:r>
              <a:rPr lang="zh-CN" altLang="en-US" dirty="0"/>
              <a:t>的前两行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6DF1631-84E4-09CB-5DFC-FFB941FFCE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19" y="1468633"/>
            <a:ext cx="1312599" cy="55573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161A1615-09E8-34F1-3E0E-2B4735A115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6170" y="2396158"/>
            <a:ext cx="1004574" cy="28702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E020B337-B434-2207-FE89-AD27EB7EF8EA}"/>
              </a:ext>
            </a:extLst>
          </p:cNvPr>
          <p:cNvSpPr txBox="1"/>
          <p:nvPr/>
        </p:nvSpPr>
        <p:spPr>
          <a:xfrm>
            <a:off x="0" y="1983931"/>
            <a:ext cx="3881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根据下面公式，可以算出</a:t>
            </a:r>
            <a:r>
              <a:rPr lang="en-US" altLang="zh-CN" dirty="0"/>
              <a:t>P</a:t>
            </a:r>
            <a:r>
              <a:rPr lang="zh-CN" altLang="en-US" dirty="0"/>
              <a:t>矩阵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0C5EC97-7CF3-67DD-8C77-F3A5FCE0405C}"/>
              </a:ext>
            </a:extLst>
          </p:cNvPr>
          <p:cNvSpPr txBox="1"/>
          <p:nvPr/>
        </p:nvSpPr>
        <p:spPr>
          <a:xfrm>
            <a:off x="0" y="2743873"/>
            <a:ext cx="3881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可以计算得到</a:t>
            </a:r>
            <a:r>
              <a:rPr lang="en-US" altLang="zh-CN" dirty="0"/>
              <a:t>P</a:t>
            </a:r>
            <a:r>
              <a:rPr lang="zh-CN" altLang="en-US" dirty="0"/>
              <a:t>矩阵为：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AE96DA06-7E3C-28D3-B071-80D2F1441E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6291" y="3161368"/>
            <a:ext cx="1508993" cy="68489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BB9B7640-6F60-E048-74B2-519C622132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3687" y="4486412"/>
            <a:ext cx="2754199" cy="663900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105CBD0C-F2B3-8CDC-F674-E8C61A330368}"/>
              </a:ext>
            </a:extLst>
          </p:cNvPr>
          <p:cNvSpPr txBox="1"/>
          <p:nvPr/>
        </p:nvSpPr>
        <p:spPr>
          <a:xfrm>
            <a:off x="0" y="3808593"/>
            <a:ext cx="38812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后续矩阵为：即从原始的三个参数单项式提取出来</a:t>
            </a:r>
            <a:r>
              <a:rPr lang="en-US" altLang="zh-CN" dirty="0"/>
              <a:t>2</a:t>
            </a:r>
            <a:r>
              <a:rPr lang="zh-CN" altLang="en-US" dirty="0"/>
              <a:t>个独立的参数组合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8F87396B-3717-DD25-2513-1E934889BE3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569" y="5555473"/>
            <a:ext cx="2180128" cy="332210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170AE423-5A71-F5A4-F076-1DCD31C7391F}"/>
              </a:ext>
            </a:extLst>
          </p:cNvPr>
          <p:cNvSpPr txBox="1"/>
          <p:nvPr/>
        </p:nvSpPr>
        <p:spPr>
          <a:xfrm>
            <a:off x="0" y="5125703"/>
            <a:ext cx="3881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原始的力矩表达式更换为：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1A5FB5C-271D-119D-956C-E7EA0CBC2AD1}"/>
              </a:ext>
            </a:extLst>
          </p:cNvPr>
          <p:cNvSpPr txBox="1"/>
          <p:nvPr/>
        </p:nvSpPr>
        <p:spPr>
          <a:xfrm>
            <a:off x="4282550" y="66093"/>
            <a:ext cx="41772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在之前得到</a:t>
            </a:r>
            <a:r>
              <a:rPr lang="en-US" altLang="zh-CN" dirty="0" err="1"/>
              <a:t>theta_full</a:t>
            </a:r>
            <a:r>
              <a:rPr lang="zh-CN" altLang="en-US" dirty="0"/>
              <a:t>后，通过</a:t>
            </a:r>
            <a:r>
              <a:rPr lang="en-US" altLang="zh-CN" dirty="0"/>
              <a:t>MATLAB</a:t>
            </a:r>
            <a:r>
              <a:rPr lang="zh-CN" altLang="en-US" dirty="0"/>
              <a:t>的</a:t>
            </a:r>
            <a:r>
              <a:rPr lang="zh-CN" altLang="zh-CN" dirty="0"/>
              <a:t> </a:t>
            </a:r>
            <a:r>
              <a:rPr lang="zh-CN" altLang="zh-CN" dirty="0">
                <a:latin typeface="+mn-lt"/>
              </a:rPr>
              <a:t>coeffs</a:t>
            </a:r>
            <a:r>
              <a:rPr lang="zh-CN" altLang="en-US" dirty="0">
                <a:latin typeface="+mn-lt"/>
              </a:rPr>
              <a:t>函数</a:t>
            </a:r>
            <a:r>
              <a:rPr lang="zh-CN" altLang="zh-CN" dirty="0"/>
              <a:t> 提取原始参数单项式的系数，从而</a:t>
            </a:r>
            <a:r>
              <a:rPr lang="zh-CN" altLang="en-US" dirty="0"/>
              <a:t>构造参数单项式矩阵</a:t>
            </a:r>
            <a:r>
              <a:rPr lang="en-US" altLang="zh-CN" dirty="0" err="1"/>
              <a:t>Y_full</a:t>
            </a:r>
            <a:r>
              <a:rPr lang="zh-CN" altLang="en-US" dirty="0"/>
              <a:t>（即完整的符号回归矩阵）</a:t>
            </a: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10861973-ECD0-977F-7C2C-0CA5E2008E40}"/>
              </a:ext>
            </a:extLst>
          </p:cNvPr>
          <p:cNvCxnSpPr/>
          <p:nvPr/>
        </p:nvCxnSpPr>
        <p:spPr>
          <a:xfrm>
            <a:off x="4124668" y="0"/>
            <a:ext cx="0" cy="685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图片 20">
            <a:extLst>
              <a:ext uri="{FF2B5EF4-FFF2-40B4-BE49-F238E27FC236}">
                <a16:creationId xmlns:a16="http://schemas.microsoft.com/office/drawing/2014/main" id="{3B4F45F7-A950-D956-C171-3B1672F074DF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4624" t="6850" b="25654"/>
          <a:stretch>
            <a:fillRect/>
          </a:stretch>
        </p:blipFill>
        <p:spPr>
          <a:xfrm>
            <a:off x="5490650" y="1309103"/>
            <a:ext cx="1325527" cy="282872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860D1272-9383-6385-80EF-0B0A2EDB1D6D}"/>
              </a:ext>
            </a:extLst>
          </p:cNvPr>
          <p:cNvSpPr txBox="1"/>
          <p:nvPr/>
        </p:nvSpPr>
        <p:spPr>
          <a:xfrm>
            <a:off x="4193742" y="1678369"/>
            <a:ext cx="41772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在对</a:t>
            </a:r>
            <a:r>
              <a:rPr lang="en-US" altLang="zh-CN" dirty="0" err="1"/>
              <a:t>theta_full</a:t>
            </a:r>
            <a:r>
              <a:rPr lang="zh-CN" altLang="en-US" dirty="0"/>
              <a:t>得到最简化的</a:t>
            </a:r>
            <a:r>
              <a:rPr lang="en-US" altLang="zh-CN" dirty="0"/>
              <a:t>pi</a:t>
            </a:r>
            <a:r>
              <a:rPr lang="zh-CN" altLang="en-US" dirty="0"/>
              <a:t>之后，通过</a:t>
            </a:r>
            <a:r>
              <a:rPr lang="en-US" altLang="zh-CN" dirty="0"/>
              <a:t>SVD</a:t>
            </a:r>
            <a:r>
              <a:rPr lang="zh-CN" altLang="en-US" dirty="0"/>
              <a:t>和第一次列</a:t>
            </a:r>
            <a:r>
              <a:rPr lang="en-US" altLang="zh-CN" dirty="0"/>
              <a:t>QR</a:t>
            </a:r>
            <a:r>
              <a:rPr lang="zh-CN" altLang="en-US" dirty="0"/>
              <a:t>分解的结果，就可以选出</a:t>
            </a:r>
            <a:r>
              <a:rPr lang="en-US" altLang="zh-CN" dirty="0" err="1"/>
              <a:t>Y_full</a:t>
            </a:r>
            <a:r>
              <a:rPr lang="zh-CN" altLang="en-US" dirty="0"/>
              <a:t>的最简化列</a:t>
            </a:r>
            <a:endParaRPr lang="en-US" altLang="zh-CN" dirty="0"/>
          </a:p>
          <a:p>
            <a:r>
              <a:rPr lang="zh-CN" altLang="en-US" dirty="0"/>
              <a:t>这里就是选择第一列和第二列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FFAE155-E9D8-396B-4FA7-3DC65B3AF377}"/>
              </a:ext>
            </a:extLst>
          </p:cNvPr>
          <p:cNvSpPr txBox="1"/>
          <p:nvPr/>
        </p:nvSpPr>
        <p:spPr>
          <a:xfrm>
            <a:off x="4193742" y="2965092"/>
            <a:ext cx="41772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最终：</a:t>
            </a:r>
            <a:r>
              <a:rPr lang="en-US" altLang="zh-CN" dirty="0"/>
              <a:t>Y</a:t>
            </a:r>
            <a:r>
              <a:rPr lang="zh-CN" altLang="en-US" dirty="0"/>
              <a:t>矩阵即为</a:t>
            </a:r>
            <a:r>
              <a:rPr lang="en-US" altLang="zh-CN" dirty="0" err="1"/>
              <a:t>theta_full</a:t>
            </a:r>
            <a:r>
              <a:rPr lang="zh-CN" altLang="en-US" dirty="0">
                <a:solidFill>
                  <a:srgbClr val="FF0000"/>
                </a:solidFill>
              </a:rPr>
              <a:t>回归矩阵</a:t>
            </a:r>
            <a:r>
              <a:rPr lang="zh-CN" altLang="en-US" dirty="0"/>
              <a:t>；</a:t>
            </a:r>
            <a:r>
              <a:rPr lang="en-US" altLang="zh-CN" dirty="0"/>
              <a:t>pi</a:t>
            </a:r>
            <a:r>
              <a:rPr lang="zh-CN" altLang="en-US" dirty="0"/>
              <a:t>为</a:t>
            </a:r>
            <a:r>
              <a:rPr lang="zh-CN" altLang="en-US" dirty="0">
                <a:solidFill>
                  <a:srgbClr val="FF0000"/>
                </a:solidFill>
              </a:rPr>
              <a:t>最小动力学参数向量，</a:t>
            </a:r>
            <a:r>
              <a:rPr lang="zh-CN" altLang="en-US" dirty="0"/>
              <a:t>也就是常说的</a:t>
            </a:r>
            <a:r>
              <a:rPr lang="zh-CN" altLang="en-US" dirty="0">
                <a:solidFill>
                  <a:srgbClr val="FF0000"/>
                </a:solidFill>
              </a:rPr>
              <a:t>最小参数集</a:t>
            </a:r>
            <a:r>
              <a:rPr lang="zh-CN" altLang="en-US" dirty="0"/>
              <a:t>，</a:t>
            </a:r>
            <a:r>
              <a:rPr lang="en-US" altLang="zh-CN" dirty="0"/>
              <a:t>W_B</a:t>
            </a:r>
            <a:r>
              <a:rPr lang="zh-CN" altLang="en-US" dirty="0"/>
              <a:t>就是</a:t>
            </a:r>
            <a:r>
              <a:rPr lang="en-US" altLang="zh-CN" dirty="0"/>
              <a:t>pi</a:t>
            </a:r>
            <a:r>
              <a:rPr lang="zh-CN" altLang="en-US" dirty="0"/>
              <a:t>的回归矩阵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5DDA39F-1ABF-B490-A403-BA4CD3A68EA0}"/>
              </a:ext>
            </a:extLst>
          </p:cNvPr>
          <p:cNvSpPr txBox="1"/>
          <p:nvPr/>
        </p:nvSpPr>
        <p:spPr>
          <a:xfrm>
            <a:off x="4180166" y="4194667"/>
            <a:ext cx="4177289" cy="92333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/>
              <a:t>参数辨识即为代入采集的众多回归矩阵的数值，计算最小动力学参数向量的具体数值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D9FC432C-4048-10CF-8A84-772A7B3CA9D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39694" y="38772"/>
            <a:ext cx="3749901" cy="2839925"/>
          </a:xfrm>
          <a:prstGeom prst="rect">
            <a:avLst/>
          </a:prstGeom>
        </p:spPr>
      </p:pic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4C0966B0-19D2-F0A8-A5A3-F4EF0B95BF6D}"/>
              </a:ext>
            </a:extLst>
          </p:cNvPr>
          <p:cNvCxnSpPr/>
          <p:nvPr/>
        </p:nvCxnSpPr>
        <p:spPr>
          <a:xfrm>
            <a:off x="8426528" y="-5905"/>
            <a:ext cx="0" cy="685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09375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909</Words>
  <Application>Microsoft Office PowerPoint</Application>
  <PresentationFormat>宽屏</PresentationFormat>
  <Paragraphs>32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智健 尹</dc:creator>
  <cp:lastModifiedBy>智健 尹</cp:lastModifiedBy>
  <cp:revision>7</cp:revision>
  <dcterms:created xsi:type="dcterms:W3CDTF">2026-10-10T10:49:53Z</dcterms:created>
  <dcterms:modified xsi:type="dcterms:W3CDTF">2026-10-10T13:27:04Z</dcterms:modified>
</cp:coreProperties>
</file>